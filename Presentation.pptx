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7" d="100"/>
          <a:sy n="67" d="100"/>
        </p:scale>
        <p:origin x="64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899CA4-0DAE-43B3-BBE8-3C734D0CACF2}" type="datetimeFigureOut">
              <a:rPr lang="en-US" smtClean="0"/>
              <a:t>12-Feb-26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1292184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899CA4-0DAE-43B3-BBE8-3C734D0CACF2}" type="datetimeFigureOut">
              <a:rPr lang="en-US" smtClean="0"/>
              <a:t>12-Feb-26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3025645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899CA4-0DAE-43B3-BBE8-3C734D0CACF2}" type="datetimeFigureOut">
              <a:rPr lang="en-US" smtClean="0"/>
              <a:t>12-Feb-26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25477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899CA4-0DAE-43B3-BBE8-3C734D0CACF2}" type="datetimeFigureOut">
              <a:rPr lang="en-US" smtClean="0"/>
              <a:t>12-Feb-26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4278196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899CA4-0DAE-43B3-BBE8-3C734D0CACF2}" type="datetimeFigureOut">
              <a:rPr lang="en-US" smtClean="0"/>
              <a:t>12-Feb-26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3823730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899CA4-0DAE-43B3-BBE8-3C734D0CACF2}" type="datetimeFigureOut">
              <a:rPr lang="en-US" smtClean="0"/>
              <a:t>12-Feb-26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4169066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99CA4-0DAE-43B3-BBE8-3C734D0CACF2}" type="datetimeFigureOut">
              <a:rPr lang="en-US" smtClean="0"/>
              <a:t>12-Feb-26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383085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899CA4-0DAE-43B3-BBE8-3C734D0CACF2}" type="datetimeFigureOut">
              <a:rPr lang="en-US" smtClean="0"/>
              <a:t>12-Feb-26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1891595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899CA4-0DAE-43B3-BBE8-3C734D0CACF2}" type="datetimeFigureOut">
              <a:rPr lang="en-US" smtClean="0"/>
              <a:t>12-Feb-26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2340035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899CA4-0DAE-43B3-BBE8-3C734D0CACF2}" type="datetimeFigureOut">
              <a:rPr lang="en-US" smtClean="0"/>
              <a:t>12-Feb-26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1526074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899CA4-0DAE-43B3-BBE8-3C734D0CACF2}" type="datetimeFigureOut">
              <a:rPr lang="en-US" smtClean="0"/>
              <a:t>12-Feb-26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C1C98B-034E-4F8D-A8DA-1F226E6B952A}" type="slidenum">
              <a:rPr lang="en-US" smtClean="0"/>
              <a:t>‹#›</a:t>
            </a:fld>
            <a:endParaRPr lang="en-US"/>
          </a:p>
        </p:txBody>
      </p:sp>
    </p:spTree>
    <p:extLst>
      <p:ext uri="{BB962C8B-B14F-4D97-AF65-F5344CB8AC3E}">
        <p14:creationId xmlns:p14="http://schemas.microsoft.com/office/powerpoint/2010/main" val="3710833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899CA4-0DAE-43B3-BBE8-3C734D0CACF2}" type="datetimeFigureOut">
              <a:rPr lang="en-US" smtClean="0"/>
              <a:t>12-Feb-26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C1C98B-034E-4F8D-A8DA-1F226E6B952A}" type="slidenum">
              <a:rPr lang="en-US" smtClean="0"/>
              <a:t>‹#›</a:t>
            </a:fld>
            <a:endParaRPr lang="en-US"/>
          </a:p>
        </p:txBody>
      </p:sp>
    </p:spTree>
    <p:extLst>
      <p:ext uri="{BB962C8B-B14F-4D97-AF65-F5344CB8AC3E}">
        <p14:creationId xmlns:p14="http://schemas.microsoft.com/office/powerpoint/2010/main" val="24491639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6D699-60ED-09AA-4E8E-AA396FDD7855}"/>
              </a:ext>
            </a:extLst>
          </p:cNvPr>
          <p:cNvSpPr>
            <a:spLocks noGrp="1"/>
          </p:cNvSpPr>
          <p:nvPr>
            <p:ph type="ctrTitle"/>
          </p:nvPr>
        </p:nvSpPr>
        <p:spPr>
          <a:xfrm>
            <a:off x="678729" y="663233"/>
            <a:ext cx="10746557" cy="1655762"/>
          </a:xfrm>
        </p:spPr>
        <p:txBody>
          <a:bodyPr>
            <a:normAutofit/>
          </a:bodyPr>
          <a:lstStyle/>
          <a:p>
            <a:r>
              <a:rPr lang="en-US" sz="4800" b="1" dirty="0"/>
              <a:t>MACHINE LEARNING PROJECT:  </a:t>
            </a:r>
            <a:br>
              <a:rPr lang="en-US" sz="4800" b="1" dirty="0"/>
            </a:br>
            <a:r>
              <a:rPr lang="en-US" sz="4800" b="1" dirty="0"/>
              <a:t>Churn Prediction Model</a:t>
            </a:r>
            <a:endParaRPr lang="en-US" sz="4800" dirty="0"/>
          </a:p>
        </p:txBody>
      </p:sp>
      <p:sp>
        <p:nvSpPr>
          <p:cNvPr id="3" name="Subtitle 2">
            <a:extLst>
              <a:ext uri="{FF2B5EF4-FFF2-40B4-BE49-F238E27FC236}">
                <a16:creationId xmlns:a16="http://schemas.microsoft.com/office/drawing/2014/main" id="{84569EFF-48D1-0659-7281-6BD88BFA4833}"/>
              </a:ext>
            </a:extLst>
          </p:cNvPr>
          <p:cNvSpPr>
            <a:spLocks noGrp="1"/>
          </p:cNvSpPr>
          <p:nvPr>
            <p:ph type="subTitle" idx="1"/>
          </p:nvPr>
        </p:nvSpPr>
        <p:spPr>
          <a:xfrm>
            <a:off x="537329" y="3525625"/>
            <a:ext cx="11368726" cy="2469822"/>
          </a:xfrm>
        </p:spPr>
        <p:txBody>
          <a:bodyPr>
            <a:normAutofit fontScale="40000" lnSpcReduction="20000"/>
          </a:bodyPr>
          <a:lstStyle/>
          <a:p>
            <a:r>
              <a:rPr lang="en-US" sz="9600" b="1" dirty="0"/>
              <a:t>Course: Data Science Phase-3-Project</a:t>
            </a:r>
          </a:p>
          <a:p>
            <a:r>
              <a:rPr lang="en-US" sz="9600" b="1" dirty="0"/>
              <a:t>Project: Churn Prediction Project</a:t>
            </a:r>
          </a:p>
          <a:p>
            <a:r>
              <a:rPr lang="en-US" sz="9600" b="1" dirty="0"/>
              <a:t>Institution: Moringa School</a:t>
            </a:r>
            <a:endParaRPr lang="en-US" sz="6400" b="1" dirty="0"/>
          </a:p>
          <a:p>
            <a:r>
              <a:rPr lang="en-US" sz="6400" b="1" dirty="0"/>
              <a:t>Geoffrey Kemboi</a:t>
            </a:r>
          </a:p>
          <a:p>
            <a:r>
              <a:rPr lang="en-US" sz="6400" b="1" dirty="0"/>
              <a:t>Date :  12</a:t>
            </a:r>
            <a:r>
              <a:rPr lang="en-US" sz="6400" b="1" baseline="30000" dirty="0"/>
              <a:t>th</a:t>
            </a:r>
            <a:r>
              <a:rPr lang="en-US" sz="6400" b="1" dirty="0"/>
              <a:t> February2026</a:t>
            </a:r>
          </a:p>
          <a:p>
            <a:endParaRPr lang="en-US" dirty="0"/>
          </a:p>
        </p:txBody>
      </p:sp>
    </p:spTree>
    <p:extLst>
      <p:ext uri="{BB962C8B-B14F-4D97-AF65-F5344CB8AC3E}">
        <p14:creationId xmlns:p14="http://schemas.microsoft.com/office/powerpoint/2010/main" val="2926796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1C49FA-D9A1-7286-6A5C-A6B597604C5E}"/>
              </a:ext>
            </a:extLst>
          </p:cNvPr>
          <p:cNvSpPr txBox="1"/>
          <p:nvPr/>
        </p:nvSpPr>
        <p:spPr>
          <a:xfrm>
            <a:off x="1432874" y="904972"/>
            <a:ext cx="9587060" cy="4647426"/>
          </a:xfrm>
          <a:prstGeom prst="rect">
            <a:avLst/>
          </a:prstGeom>
          <a:noFill/>
        </p:spPr>
        <p:txBody>
          <a:bodyPr wrap="square">
            <a:spAutoFit/>
          </a:bodyPr>
          <a:lstStyle/>
          <a:p>
            <a:pPr marL="0" indent="0" algn="ctr">
              <a:buNone/>
            </a:pPr>
            <a:r>
              <a:rPr lang="en-US" sz="3200" b="1" dirty="0"/>
              <a:t>Introduction</a:t>
            </a:r>
            <a:endParaRPr lang="en-US" sz="2400" dirty="0"/>
          </a:p>
          <a:p>
            <a:pPr marL="0" indent="0">
              <a:buNone/>
            </a:pPr>
            <a:r>
              <a:rPr lang="en-US" sz="2400" dirty="0"/>
              <a:t>Welcome to the </a:t>
            </a:r>
            <a:r>
              <a:rPr lang="en-US" sz="2400" b="1" dirty="0"/>
              <a:t>Churn prediction Model</a:t>
            </a:r>
            <a:r>
              <a:rPr lang="en-US" sz="2400" dirty="0"/>
              <a:t>! This project, developed for the Moringa School Phase 3 Data Science curriculum. Churn prediction is a critical business objective because retaining existing customers is significantly more cost-effective than acquiring new ones</a:t>
            </a:r>
          </a:p>
          <a:p>
            <a:pPr marL="0" indent="0">
              <a:buNone/>
            </a:pPr>
            <a:endParaRPr lang="en-US" sz="2400" dirty="0"/>
          </a:p>
          <a:p>
            <a:pPr marL="0" indent="0">
              <a:buNone/>
            </a:pPr>
            <a:r>
              <a:rPr lang="en-US" sz="2400" b="1" dirty="0"/>
              <a:t>                                          Problem Statement</a:t>
            </a:r>
          </a:p>
          <a:p>
            <a:r>
              <a:rPr lang="en-US" sz="2400" dirty="0"/>
              <a:t>Customer churn poses a major challenge for telecommunications companies, as losing customers is costly and acquiring new ones is even more expensive. The problem is to develop a predictive machine learning model that can accurately identify at-risk customers, enabling proactive retention strategies and reducing revenue loss.</a:t>
            </a:r>
          </a:p>
        </p:txBody>
      </p:sp>
    </p:spTree>
    <p:extLst>
      <p:ext uri="{BB962C8B-B14F-4D97-AF65-F5344CB8AC3E}">
        <p14:creationId xmlns:p14="http://schemas.microsoft.com/office/powerpoint/2010/main" val="2842086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0EFA8-F0F0-8310-50FD-A6205B224C2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303994E-F35A-D75D-DEEB-CFC754D544B8}"/>
              </a:ext>
            </a:extLst>
          </p:cNvPr>
          <p:cNvSpPr txBox="1"/>
          <p:nvPr/>
        </p:nvSpPr>
        <p:spPr>
          <a:xfrm>
            <a:off x="742950" y="904972"/>
            <a:ext cx="10276984" cy="4585871"/>
          </a:xfrm>
          <a:prstGeom prst="rect">
            <a:avLst/>
          </a:prstGeom>
          <a:noFill/>
        </p:spPr>
        <p:txBody>
          <a:bodyPr wrap="square">
            <a:spAutoFit/>
          </a:bodyPr>
          <a:lstStyle/>
          <a:p>
            <a:pPr algn="ctr"/>
            <a:r>
              <a:rPr lang="en-US" sz="2800" b="1" dirty="0"/>
              <a:t>Project Overview</a:t>
            </a:r>
          </a:p>
          <a:p>
            <a:pPr marL="342900" indent="-342900">
              <a:lnSpc>
                <a:spcPct val="200000"/>
              </a:lnSpc>
              <a:buFont typeface="Wingdings" panose="05000000000000000000" pitchFamily="2" charset="2"/>
              <a:buChar char="ü"/>
            </a:pPr>
            <a:r>
              <a:rPr lang="en-US" sz="2400" b="1" dirty="0"/>
              <a:t>Goal: </a:t>
            </a:r>
            <a:r>
              <a:rPr lang="en-US" sz="2400" dirty="0"/>
              <a:t>Predict customer churn using ML models</a:t>
            </a:r>
            <a:endParaRPr lang="en-US" sz="2400" b="1" dirty="0"/>
          </a:p>
          <a:p>
            <a:pPr marL="342900" indent="-342900">
              <a:lnSpc>
                <a:spcPct val="200000"/>
              </a:lnSpc>
              <a:buFont typeface="Wingdings" panose="05000000000000000000" pitchFamily="2" charset="2"/>
              <a:buChar char="ü"/>
            </a:pPr>
            <a:r>
              <a:rPr lang="en-US" sz="2400" b="1" dirty="0"/>
              <a:t>Business importance: </a:t>
            </a:r>
            <a:r>
              <a:rPr lang="en-US" sz="2400" dirty="0"/>
              <a:t>Retaining customers is cheaper than acquiring new ones</a:t>
            </a:r>
          </a:p>
          <a:p>
            <a:pPr marL="342900" indent="-342900">
              <a:lnSpc>
                <a:spcPct val="200000"/>
              </a:lnSpc>
              <a:buFont typeface="Wingdings" panose="05000000000000000000" pitchFamily="2" charset="2"/>
              <a:buChar char="ü"/>
            </a:pPr>
            <a:r>
              <a:rPr lang="en-US" sz="2400" b="1" dirty="0"/>
              <a:t>Business &amp; data understanding </a:t>
            </a:r>
            <a:r>
              <a:rPr lang="en-US" sz="2400" dirty="0"/>
              <a:t>: Perform EDA, data clean up, and scaling</a:t>
            </a:r>
          </a:p>
          <a:p>
            <a:pPr marL="342900" indent="-342900">
              <a:lnSpc>
                <a:spcPct val="200000"/>
              </a:lnSpc>
              <a:buFont typeface="Wingdings" panose="05000000000000000000" pitchFamily="2" charset="2"/>
              <a:buChar char="ü"/>
            </a:pPr>
            <a:r>
              <a:rPr lang="en-US" sz="2400" b="1" dirty="0"/>
              <a:t>Approach: </a:t>
            </a:r>
            <a:r>
              <a:rPr lang="en-US" sz="2400" dirty="0"/>
              <a:t>Compare Logistic Regression vs. Decision Tree Classifier</a:t>
            </a:r>
          </a:p>
          <a:p>
            <a:pPr marL="342900" indent="-342900">
              <a:lnSpc>
                <a:spcPct val="200000"/>
              </a:lnSpc>
              <a:buFont typeface="Wingdings" panose="05000000000000000000" pitchFamily="2" charset="2"/>
              <a:buChar char="ü"/>
            </a:pPr>
            <a:r>
              <a:rPr lang="en-US" sz="2400" b="1" dirty="0"/>
              <a:t>Outcome: </a:t>
            </a:r>
            <a:r>
              <a:rPr lang="en-US" sz="2400" dirty="0"/>
              <a:t>Identify at-risk customers for proactive retention</a:t>
            </a:r>
          </a:p>
          <a:p>
            <a:pPr marL="0" indent="0" algn="ctr">
              <a:buNone/>
            </a:pPr>
            <a:endParaRPr lang="en-US" sz="2400" dirty="0"/>
          </a:p>
        </p:txBody>
      </p:sp>
    </p:spTree>
    <p:extLst>
      <p:ext uri="{BB962C8B-B14F-4D97-AF65-F5344CB8AC3E}">
        <p14:creationId xmlns:p14="http://schemas.microsoft.com/office/powerpoint/2010/main" val="2625098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3436B-CA45-320C-CDFB-4585559B66F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6B4E78B-B017-4A4E-40B7-4B325D801C62}"/>
              </a:ext>
            </a:extLst>
          </p:cNvPr>
          <p:cNvSpPr txBox="1"/>
          <p:nvPr/>
        </p:nvSpPr>
        <p:spPr>
          <a:xfrm>
            <a:off x="742950" y="904972"/>
            <a:ext cx="10276984" cy="5324535"/>
          </a:xfrm>
          <a:prstGeom prst="rect">
            <a:avLst/>
          </a:prstGeom>
          <a:noFill/>
        </p:spPr>
        <p:txBody>
          <a:bodyPr wrap="square">
            <a:spAutoFit/>
          </a:bodyPr>
          <a:lstStyle/>
          <a:p>
            <a:pPr algn="ctr"/>
            <a:r>
              <a:rPr lang="en-US" sz="2800" b="1" dirty="0"/>
              <a:t>Business and Data Understanding</a:t>
            </a:r>
          </a:p>
          <a:p>
            <a:pPr>
              <a:lnSpc>
                <a:spcPct val="150000"/>
              </a:lnSpc>
            </a:pPr>
            <a:r>
              <a:rPr lang="en-US" sz="2400" b="1" dirty="0"/>
              <a:t>Stakeholder Audience</a:t>
            </a:r>
          </a:p>
          <a:p>
            <a:pPr marL="342900" indent="-342900">
              <a:lnSpc>
                <a:spcPct val="150000"/>
              </a:lnSpc>
              <a:buFont typeface="Arial" panose="020B0604020202020204" pitchFamily="34" charset="0"/>
              <a:buChar char="•"/>
            </a:pPr>
            <a:r>
              <a:rPr lang="en-US" sz="2400" dirty="0"/>
              <a:t>Customer Success &amp; Retention Teams</a:t>
            </a:r>
          </a:p>
          <a:p>
            <a:pPr marL="342900" indent="-342900">
              <a:lnSpc>
                <a:spcPct val="150000"/>
              </a:lnSpc>
              <a:buFont typeface="Arial" panose="020B0604020202020204" pitchFamily="34" charset="0"/>
              <a:buChar char="•"/>
            </a:pPr>
            <a:r>
              <a:rPr lang="en-US" sz="2400" b="1" dirty="0"/>
              <a:t>Need: </a:t>
            </a:r>
            <a:r>
              <a:rPr lang="en-US" sz="2400" dirty="0"/>
              <a:t>Flag customers likely to leave before they churn</a:t>
            </a:r>
          </a:p>
          <a:p>
            <a:pPr>
              <a:lnSpc>
                <a:spcPct val="150000"/>
              </a:lnSpc>
            </a:pPr>
            <a:r>
              <a:rPr lang="en-US" sz="2400" b="1" dirty="0"/>
              <a:t>Dataset</a:t>
            </a:r>
          </a:p>
          <a:p>
            <a:pPr marL="342900" indent="-342900">
              <a:lnSpc>
                <a:spcPct val="150000"/>
              </a:lnSpc>
              <a:buFont typeface="Arial" panose="020B0604020202020204" pitchFamily="34" charset="0"/>
              <a:buChar char="•"/>
            </a:pPr>
            <a:r>
              <a:rPr lang="en-US" sz="2400" b="1" dirty="0"/>
              <a:t>Source: </a:t>
            </a:r>
            <a:r>
              <a:rPr lang="en-US" dirty="0"/>
              <a:t>ChurnInTelecom.csv</a:t>
            </a:r>
            <a:r>
              <a:rPr lang="en-US" sz="2400" dirty="0"/>
              <a:t> (3,333 records)</a:t>
            </a:r>
          </a:p>
          <a:p>
            <a:pPr marL="342900" indent="-342900">
              <a:lnSpc>
                <a:spcPct val="150000"/>
              </a:lnSpc>
              <a:buFont typeface="Arial" panose="020B0604020202020204" pitchFamily="34" charset="0"/>
              <a:buChar char="•"/>
            </a:pPr>
            <a:r>
              <a:rPr lang="en-US" sz="2400" b="1" dirty="0"/>
              <a:t>Features: </a:t>
            </a:r>
            <a:r>
              <a:rPr lang="en-US" sz="2400" dirty="0"/>
              <a:t>Usage patterns, account details, service interactions</a:t>
            </a:r>
          </a:p>
          <a:p>
            <a:pPr marL="342900" indent="-342900">
              <a:lnSpc>
                <a:spcPct val="150000"/>
              </a:lnSpc>
              <a:buFont typeface="Arial" panose="020B0604020202020204" pitchFamily="34" charset="0"/>
              <a:buChar char="•"/>
            </a:pPr>
            <a:r>
              <a:rPr lang="en-US" sz="2400" b="1" dirty="0"/>
              <a:t>Target: </a:t>
            </a:r>
            <a:r>
              <a:rPr lang="en-US" sz="2400" dirty="0"/>
              <a:t>Churn (Yes/No)</a:t>
            </a:r>
          </a:p>
          <a:p>
            <a:pPr marL="342900" indent="-342900">
              <a:lnSpc>
                <a:spcPct val="150000"/>
              </a:lnSpc>
              <a:buFont typeface="Arial" panose="020B0604020202020204" pitchFamily="34" charset="0"/>
              <a:buChar char="•"/>
            </a:pPr>
            <a:r>
              <a:rPr lang="en-US" sz="2400" b="1" dirty="0"/>
              <a:t>Challenge: </a:t>
            </a:r>
            <a:r>
              <a:rPr lang="en-US" sz="2400" dirty="0"/>
              <a:t>Imbalanced dataset (minority churners)</a:t>
            </a:r>
          </a:p>
          <a:p>
            <a:pPr marL="0" indent="0" algn="ctr">
              <a:buNone/>
            </a:pPr>
            <a:endParaRPr lang="en-US" sz="2400" dirty="0"/>
          </a:p>
        </p:txBody>
      </p:sp>
    </p:spTree>
    <p:extLst>
      <p:ext uri="{BB962C8B-B14F-4D97-AF65-F5344CB8AC3E}">
        <p14:creationId xmlns:p14="http://schemas.microsoft.com/office/powerpoint/2010/main" val="174595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6C12-7BFC-BA33-8A20-CAD4953E0B26}"/>
              </a:ext>
            </a:extLst>
          </p:cNvPr>
          <p:cNvSpPr>
            <a:spLocks noGrp="1"/>
          </p:cNvSpPr>
          <p:nvPr>
            <p:ph type="title"/>
          </p:nvPr>
        </p:nvSpPr>
        <p:spPr>
          <a:xfrm>
            <a:off x="838200" y="161926"/>
            <a:ext cx="10515600" cy="519112"/>
          </a:xfrm>
        </p:spPr>
        <p:txBody>
          <a:bodyPr>
            <a:noAutofit/>
          </a:bodyPr>
          <a:lstStyle/>
          <a:p>
            <a:r>
              <a:rPr lang="en-US" sz="3600" b="1" dirty="0"/>
              <a:t>Churners based on International plan distribution</a:t>
            </a:r>
          </a:p>
        </p:txBody>
      </p:sp>
      <p:sp>
        <p:nvSpPr>
          <p:cNvPr id="3" name="Content Placeholder 2">
            <a:extLst>
              <a:ext uri="{FF2B5EF4-FFF2-40B4-BE49-F238E27FC236}">
                <a16:creationId xmlns:a16="http://schemas.microsoft.com/office/drawing/2014/main" id="{401ECBA3-77F1-48EB-4509-CF2E8E6E59BE}"/>
              </a:ext>
            </a:extLst>
          </p:cNvPr>
          <p:cNvSpPr>
            <a:spLocks noGrp="1"/>
          </p:cNvSpPr>
          <p:nvPr>
            <p:ph idx="1"/>
          </p:nvPr>
        </p:nvSpPr>
        <p:spPr>
          <a:xfrm>
            <a:off x="838200" y="1162050"/>
            <a:ext cx="11029950" cy="5534024"/>
          </a:xfrm>
        </p:spPr>
        <p:txBody>
          <a:bodyPr>
            <a:normAutofit/>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About 3,010 churners against 323 fall into this "No International Plan" category. This is by far the larger group, indicating that most customers who churned did not subscribe to the international plan.</a:t>
            </a:r>
          </a:p>
        </p:txBody>
      </p:sp>
      <p:pic>
        <p:nvPicPr>
          <p:cNvPr id="7" name="Picture 6">
            <a:extLst>
              <a:ext uri="{FF2B5EF4-FFF2-40B4-BE49-F238E27FC236}">
                <a16:creationId xmlns:a16="http://schemas.microsoft.com/office/drawing/2014/main" id="{A6BEE4FB-7750-897C-633C-E1045FE921F1}"/>
              </a:ext>
            </a:extLst>
          </p:cNvPr>
          <p:cNvPicPr>
            <a:picLocks noChangeAspect="1"/>
          </p:cNvPicPr>
          <p:nvPr/>
        </p:nvPicPr>
        <p:blipFill>
          <a:blip r:embed="rId2"/>
          <a:stretch>
            <a:fillRect/>
          </a:stretch>
        </p:blipFill>
        <p:spPr>
          <a:xfrm>
            <a:off x="1190625" y="681038"/>
            <a:ext cx="8143876" cy="5109604"/>
          </a:xfrm>
          <a:prstGeom prst="rect">
            <a:avLst/>
          </a:prstGeom>
        </p:spPr>
      </p:pic>
    </p:spTree>
    <p:extLst>
      <p:ext uri="{BB962C8B-B14F-4D97-AF65-F5344CB8AC3E}">
        <p14:creationId xmlns:p14="http://schemas.microsoft.com/office/powerpoint/2010/main" val="1850177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DB222-1F20-34A4-0EBC-8DD4C4A50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B08C9-7C3A-DC1D-556D-2A87B12D3256}"/>
              </a:ext>
            </a:extLst>
          </p:cNvPr>
          <p:cNvSpPr>
            <a:spLocks noGrp="1"/>
          </p:cNvSpPr>
          <p:nvPr>
            <p:ph type="title"/>
          </p:nvPr>
        </p:nvSpPr>
        <p:spPr>
          <a:xfrm>
            <a:off x="838200" y="161926"/>
            <a:ext cx="10515600" cy="519112"/>
          </a:xfrm>
        </p:spPr>
        <p:txBody>
          <a:bodyPr>
            <a:noAutofit/>
          </a:bodyPr>
          <a:lstStyle/>
          <a:p>
            <a:pPr algn="ctr"/>
            <a:r>
              <a:rPr lang="en-US" sz="3600" b="1" dirty="0"/>
              <a:t>Churners Distribution</a:t>
            </a:r>
          </a:p>
        </p:txBody>
      </p:sp>
      <p:sp>
        <p:nvSpPr>
          <p:cNvPr id="3" name="Content Placeholder 2">
            <a:extLst>
              <a:ext uri="{FF2B5EF4-FFF2-40B4-BE49-F238E27FC236}">
                <a16:creationId xmlns:a16="http://schemas.microsoft.com/office/drawing/2014/main" id="{E4D45BDD-E5AB-6812-B1E8-63B07FEAAE71}"/>
              </a:ext>
            </a:extLst>
          </p:cNvPr>
          <p:cNvSpPr>
            <a:spLocks noGrp="1"/>
          </p:cNvSpPr>
          <p:nvPr>
            <p:ph idx="1"/>
          </p:nvPr>
        </p:nvSpPr>
        <p:spPr>
          <a:xfrm>
            <a:off x="838200" y="1162050"/>
            <a:ext cx="11029950" cy="5534024"/>
          </a:xfrm>
        </p:spPr>
        <p:txBody>
          <a:bodyPr>
            <a:normAutofit/>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The pie chart presentation shows that the international plan subscribers are disproportionately represented among churners.  </a:t>
            </a:r>
          </a:p>
        </p:txBody>
      </p:sp>
      <p:pic>
        <p:nvPicPr>
          <p:cNvPr id="6" name="Picture 5">
            <a:extLst>
              <a:ext uri="{FF2B5EF4-FFF2-40B4-BE49-F238E27FC236}">
                <a16:creationId xmlns:a16="http://schemas.microsoft.com/office/drawing/2014/main" id="{5ADEBFA1-11D7-8F8A-D5C8-8ADB3109C4AD}"/>
              </a:ext>
            </a:extLst>
          </p:cNvPr>
          <p:cNvPicPr>
            <a:picLocks noChangeAspect="1"/>
          </p:cNvPicPr>
          <p:nvPr/>
        </p:nvPicPr>
        <p:blipFill>
          <a:blip r:embed="rId2"/>
          <a:stretch>
            <a:fillRect/>
          </a:stretch>
        </p:blipFill>
        <p:spPr>
          <a:xfrm>
            <a:off x="1928812" y="681038"/>
            <a:ext cx="5014913" cy="5192850"/>
          </a:xfrm>
          <a:prstGeom prst="rect">
            <a:avLst/>
          </a:prstGeom>
        </p:spPr>
      </p:pic>
    </p:spTree>
    <p:extLst>
      <p:ext uri="{BB962C8B-B14F-4D97-AF65-F5344CB8AC3E}">
        <p14:creationId xmlns:p14="http://schemas.microsoft.com/office/powerpoint/2010/main" val="3736113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8A292-8333-671A-2589-5131FC9BC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0E8A8-BCC2-2C5D-D998-DDA5F953A4E4}"/>
              </a:ext>
            </a:extLst>
          </p:cNvPr>
          <p:cNvSpPr>
            <a:spLocks noGrp="1"/>
          </p:cNvSpPr>
          <p:nvPr>
            <p:ph type="title"/>
          </p:nvPr>
        </p:nvSpPr>
        <p:spPr>
          <a:xfrm>
            <a:off x="838200" y="161926"/>
            <a:ext cx="10515600" cy="519112"/>
          </a:xfrm>
        </p:spPr>
        <p:txBody>
          <a:bodyPr>
            <a:noAutofit/>
          </a:bodyPr>
          <a:lstStyle/>
          <a:p>
            <a:r>
              <a:rPr lang="en-US" sz="4000" b="1" dirty="0"/>
              <a:t>Day vs Evening: Calls and Minutes Comparison"</a:t>
            </a:r>
            <a:endParaRPr lang="en-US" sz="4000" dirty="0"/>
          </a:p>
        </p:txBody>
      </p:sp>
      <p:sp>
        <p:nvSpPr>
          <p:cNvPr id="3" name="Content Placeholder 2">
            <a:extLst>
              <a:ext uri="{FF2B5EF4-FFF2-40B4-BE49-F238E27FC236}">
                <a16:creationId xmlns:a16="http://schemas.microsoft.com/office/drawing/2014/main" id="{05B31182-2821-84FA-8982-03A0A9C9644D}"/>
              </a:ext>
            </a:extLst>
          </p:cNvPr>
          <p:cNvSpPr>
            <a:spLocks noGrp="1"/>
          </p:cNvSpPr>
          <p:nvPr>
            <p:ph idx="1"/>
          </p:nvPr>
        </p:nvSpPr>
        <p:spPr>
          <a:xfrm>
            <a:off x="838200" y="1162050"/>
            <a:ext cx="11029950" cy="5534024"/>
          </a:xfrm>
        </p:spPr>
        <p:txBody>
          <a:bodyPr>
            <a:normAutofit/>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Customers spend more time per call in the evening than day implying that evening conversations are longer on average.</a:t>
            </a:r>
          </a:p>
        </p:txBody>
      </p:sp>
      <p:pic>
        <p:nvPicPr>
          <p:cNvPr id="5" name="Picture 4">
            <a:extLst>
              <a:ext uri="{FF2B5EF4-FFF2-40B4-BE49-F238E27FC236}">
                <a16:creationId xmlns:a16="http://schemas.microsoft.com/office/drawing/2014/main" id="{5B0806A7-5BEE-B5DA-E187-0C818421E31C}"/>
              </a:ext>
            </a:extLst>
          </p:cNvPr>
          <p:cNvPicPr>
            <a:picLocks noChangeAspect="1"/>
          </p:cNvPicPr>
          <p:nvPr/>
        </p:nvPicPr>
        <p:blipFill>
          <a:blip r:embed="rId2"/>
          <a:stretch>
            <a:fillRect/>
          </a:stretch>
        </p:blipFill>
        <p:spPr>
          <a:xfrm>
            <a:off x="1266824" y="681039"/>
            <a:ext cx="8858251" cy="5361254"/>
          </a:xfrm>
          <a:prstGeom prst="rect">
            <a:avLst/>
          </a:prstGeom>
        </p:spPr>
      </p:pic>
    </p:spTree>
    <p:extLst>
      <p:ext uri="{BB962C8B-B14F-4D97-AF65-F5344CB8AC3E}">
        <p14:creationId xmlns:p14="http://schemas.microsoft.com/office/powerpoint/2010/main" val="2652885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D7266-6BB3-6454-5981-EEDBF3CD8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28134-94E7-E7C8-5142-36E0183FE288}"/>
              </a:ext>
            </a:extLst>
          </p:cNvPr>
          <p:cNvSpPr>
            <a:spLocks noGrp="1"/>
          </p:cNvSpPr>
          <p:nvPr>
            <p:ph type="title"/>
          </p:nvPr>
        </p:nvSpPr>
        <p:spPr>
          <a:xfrm>
            <a:off x="838200" y="161926"/>
            <a:ext cx="10515600" cy="519112"/>
          </a:xfrm>
        </p:spPr>
        <p:txBody>
          <a:bodyPr>
            <a:noAutofit/>
          </a:bodyPr>
          <a:lstStyle/>
          <a:p>
            <a:pPr algn="ctr"/>
            <a:r>
              <a:rPr lang="en-US" b="1" dirty="0"/>
              <a:t>Minutes vs Charges Comparison</a:t>
            </a:r>
            <a:endParaRPr lang="en-US" dirty="0"/>
          </a:p>
        </p:txBody>
      </p:sp>
      <p:sp>
        <p:nvSpPr>
          <p:cNvPr id="3" name="Content Placeholder 2">
            <a:extLst>
              <a:ext uri="{FF2B5EF4-FFF2-40B4-BE49-F238E27FC236}">
                <a16:creationId xmlns:a16="http://schemas.microsoft.com/office/drawing/2014/main" id="{070FA268-D308-F784-C930-894511E4AF7D}"/>
              </a:ext>
            </a:extLst>
          </p:cNvPr>
          <p:cNvSpPr>
            <a:spLocks noGrp="1"/>
          </p:cNvSpPr>
          <p:nvPr>
            <p:ph idx="1"/>
          </p:nvPr>
        </p:nvSpPr>
        <p:spPr>
          <a:xfrm>
            <a:off x="838200" y="1162050"/>
            <a:ext cx="11029950" cy="5534024"/>
          </a:xfrm>
        </p:spPr>
        <p:txBody>
          <a:bodyPr>
            <a:normAutofit fontScale="77500" lnSpcReduction="20000"/>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300" dirty="0"/>
              <a:t>Customers spend the most time on evening and night calls, which are cheaper, suggesting cost-sensitive behavior. Daytime calls are shorter but more expensive, likely discouraging heavy usage While International calls are rare, but even small usage contributes to higher costs per minute.</a:t>
            </a:r>
          </a:p>
        </p:txBody>
      </p:sp>
      <p:pic>
        <p:nvPicPr>
          <p:cNvPr id="6" name="Picture 5">
            <a:extLst>
              <a:ext uri="{FF2B5EF4-FFF2-40B4-BE49-F238E27FC236}">
                <a16:creationId xmlns:a16="http://schemas.microsoft.com/office/drawing/2014/main" id="{8596671A-3095-A4FE-EDB4-2031C24FD027}"/>
              </a:ext>
            </a:extLst>
          </p:cNvPr>
          <p:cNvPicPr>
            <a:picLocks noChangeAspect="1"/>
          </p:cNvPicPr>
          <p:nvPr/>
        </p:nvPicPr>
        <p:blipFill>
          <a:blip r:embed="rId2"/>
          <a:stretch>
            <a:fillRect/>
          </a:stretch>
        </p:blipFill>
        <p:spPr>
          <a:xfrm>
            <a:off x="1409700" y="681038"/>
            <a:ext cx="8734425" cy="5167312"/>
          </a:xfrm>
          <a:prstGeom prst="rect">
            <a:avLst/>
          </a:prstGeom>
        </p:spPr>
      </p:pic>
    </p:spTree>
    <p:extLst>
      <p:ext uri="{BB962C8B-B14F-4D97-AF65-F5344CB8AC3E}">
        <p14:creationId xmlns:p14="http://schemas.microsoft.com/office/powerpoint/2010/main" val="3778615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62B02-EC5D-2F6E-A970-4D1294024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C08B0-D7C3-21A7-345D-0C610CCF24A6}"/>
              </a:ext>
            </a:extLst>
          </p:cNvPr>
          <p:cNvSpPr>
            <a:spLocks noGrp="1"/>
          </p:cNvSpPr>
          <p:nvPr>
            <p:ph type="title"/>
          </p:nvPr>
        </p:nvSpPr>
        <p:spPr>
          <a:xfrm>
            <a:off x="838200" y="161926"/>
            <a:ext cx="10515600" cy="519112"/>
          </a:xfrm>
        </p:spPr>
        <p:txBody>
          <a:bodyPr>
            <a:noAutofit/>
          </a:bodyPr>
          <a:lstStyle/>
          <a:p>
            <a:r>
              <a:rPr lang="en-US" b="1" dirty="0"/>
              <a:t>Correlation Heatmap: Minutes vs Charges</a:t>
            </a:r>
            <a:endParaRPr lang="en-US" dirty="0"/>
          </a:p>
        </p:txBody>
      </p:sp>
      <p:sp>
        <p:nvSpPr>
          <p:cNvPr id="3" name="Content Placeholder 2">
            <a:extLst>
              <a:ext uri="{FF2B5EF4-FFF2-40B4-BE49-F238E27FC236}">
                <a16:creationId xmlns:a16="http://schemas.microsoft.com/office/drawing/2014/main" id="{F05F2B6E-276D-1A2F-4429-A27888001C0F}"/>
              </a:ext>
            </a:extLst>
          </p:cNvPr>
          <p:cNvSpPr>
            <a:spLocks noGrp="1"/>
          </p:cNvSpPr>
          <p:nvPr>
            <p:ph idx="1"/>
          </p:nvPr>
        </p:nvSpPr>
        <p:spPr>
          <a:xfrm>
            <a:off x="838200" y="1162050"/>
            <a:ext cx="11029950" cy="5534024"/>
          </a:xfrm>
        </p:spPr>
        <p:txBody>
          <a:bodyPr>
            <a:normAutofit fontScale="77500" lnSpcReduction="20000"/>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300" dirty="0"/>
              <a:t>Charges are essentially a linear transformation of minutes, so including both in a predictive model risks multicollinearity that can distort regression results, making it better to keep minutes as the primary feature and drop charges since they add no new information.</a:t>
            </a:r>
          </a:p>
        </p:txBody>
      </p:sp>
      <p:pic>
        <p:nvPicPr>
          <p:cNvPr id="5" name="Picture 4">
            <a:extLst>
              <a:ext uri="{FF2B5EF4-FFF2-40B4-BE49-F238E27FC236}">
                <a16:creationId xmlns:a16="http://schemas.microsoft.com/office/drawing/2014/main" id="{FFBBE623-E510-2623-0885-ADE6117C2187}"/>
              </a:ext>
            </a:extLst>
          </p:cNvPr>
          <p:cNvPicPr>
            <a:picLocks noChangeAspect="1"/>
          </p:cNvPicPr>
          <p:nvPr/>
        </p:nvPicPr>
        <p:blipFill>
          <a:blip r:embed="rId2"/>
          <a:stretch>
            <a:fillRect/>
          </a:stretch>
        </p:blipFill>
        <p:spPr>
          <a:xfrm>
            <a:off x="2095499" y="800100"/>
            <a:ext cx="7400925" cy="5048250"/>
          </a:xfrm>
          <a:prstGeom prst="rect">
            <a:avLst/>
          </a:prstGeom>
        </p:spPr>
      </p:pic>
    </p:spTree>
    <p:extLst>
      <p:ext uri="{BB962C8B-B14F-4D97-AF65-F5344CB8AC3E}">
        <p14:creationId xmlns:p14="http://schemas.microsoft.com/office/powerpoint/2010/main" val="1029871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82EE5-1281-AF80-28A4-AC3C33E168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C6F7CF3-1EFA-8171-D253-C49FBA8AD0BF}"/>
              </a:ext>
            </a:extLst>
          </p:cNvPr>
          <p:cNvSpPr txBox="1"/>
          <p:nvPr/>
        </p:nvSpPr>
        <p:spPr>
          <a:xfrm>
            <a:off x="542925" y="457200"/>
            <a:ext cx="10477009" cy="6063198"/>
          </a:xfrm>
          <a:prstGeom prst="rect">
            <a:avLst/>
          </a:prstGeom>
          <a:noFill/>
        </p:spPr>
        <p:txBody>
          <a:bodyPr wrap="square">
            <a:spAutoFit/>
          </a:bodyPr>
          <a:lstStyle/>
          <a:p>
            <a:pPr algn="ctr"/>
            <a:r>
              <a:rPr lang="en-US" sz="2800" b="1" dirty="0"/>
              <a:t>Modelling</a:t>
            </a:r>
          </a:p>
          <a:p>
            <a:pPr>
              <a:lnSpc>
                <a:spcPct val="200000"/>
              </a:lnSpc>
            </a:pPr>
            <a:r>
              <a:rPr lang="en-US" sz="2400" dirty="0"/>
              <a:t>- Logistic Regression</a:t>
            </a:r>
          </a:p>
          <a:p>
            <a:pPr>
              <a:lnSpc>
                <a:spcPct val="200000"/>
              </a:lnSpc>
            </a:pPr>
            <a:r>
              <a:rPr lang="en-US" sz="2400" dirty="0"/>
              <a:t>- Linear, interpretable baseline</a:t>
            </a:r>
          </a:p>
          <a:p>
            <a:pPr>
              <a:lnSpc>
                <a:spcPct val="200000"/>
              </a:lnSpc>
            </a:pPr>
            <a:r>
              <a:rPr lang="en-US" sz="2400" dirty="0"/>
              <a:t>- Shows feature influence on churn odds</a:t>
            </a:r>
          </a:p>
          <a:p>
            <a:pPr>
              <a:lnSpc>
                <a:spcPct val="200000"/>
              </a:lnSpc>
            </a:pPr>
            <a:r>
              <a:rPr lang="en-US" sz="2400" dirty="0"/>
              <a:t>- Decision Tree Classifier</a:t>
            </a:r>
          </a:p>
          <a:p>
            <a:pPr>
              <a:lnSpc>
                <a:spcPct val="200000"/>
              </a:lnSpc>
            </a:pPr>
            <a:r>
              <a:rPr lang="en-US" sz="2400" dirty="0"/>
              <a:t>- Non-linear, rule-based</a:t>
            </a:r>
          </a:p>
          <a:p>
            <a:pPr>
              <a:lnSpc>
                <a:spcPct val="200000"/>
              </a:lnSpc>
            </a:pPr>
            <a:r>
              <a:rPr lang="en-US" sz="2400" dirty="0"/>
              <a:t>- Captures complex feature interactions</a:t>
            </a:r>
          </a:p>
          <a:p>
            <a:pPr>
              <a:lnSpc>
                <a:spcPct val="200000"/>
              </a:lnSpc>
            </a:pPr>
            <a:r>
              <a:rPr lang="en-US" sz="2400" dirty="0"/>
              <a:t>- Both trained on same dataset for fair comparison</a:t>
            </a:r>
          </a:p>
          <a:p>
            <a:pPr marL="0" indent="0" algn="ctr">
              <a:buNone/>
            </a:pPr>
            <a:endParaRPr lang="en-US" sz="2400" dirty="0"/>
          </a:p>
        </p:txBody>
      </p:sp>
    </p:spTree>
    <p:extLst>
      <p:ext uri="{BB962C8B-B14F-4D97-AF65-F5344CB8AC3E}">
        <p14:creationId xmlns:p14="http://schemas.microsoft.com/office/powerpoint/2010/main" val="253452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3E418-261E-AEAB-3B00-57E3E342ECB5}"/>
              </a:ext>
            </a:extLst>
          </p:cNvPr>
          <p:cNvSpPr>
            <a:spLocks noGrp="1"/>
          </p:cNvSpPr>
          <p:nvPr>
            <p:ph type="title"/>
          </p:nvPr>
        </p:nvSpPr>
        <p:spPr>
          <a:xfrm>
            <a:off x="838200" y="365126"/>
            <a:ext cx="10515600" cy="615950"/>
          </a:xfrm>
        </p:spPr>
        <p:txBody>
          <a:bodyPr>
            <a:normAutofit fontScale="90000"/>
          </a:bodyPr>
          <a:lstStyle/>
          <a:p>
            <a:pPr algn="ctr"/>
            <a:r>
              <a:rPr lang="en-US" b="1" dirty="0"/>
              <a:t>Evaluation Metrics</a:t>
            </a:r>
          </a:p>
        </p:txBody>
      </p:sp>
      <p:sp>
        <p:nvSpPr>
          <p:cNvPr id="3" name="Content Placeholder 2">
            <a:extLst>
              <a:ext uri="{FF2B5EF4-FFF2-40B4-BE49-F238E27FC236}">
                <a16:creationId xmlns:a16="http://schemas.microsoft.com/office/drawing/2014/main" id="{BC49DA78-B8B0-7FB8-D2CA-AF9928A683A0}"/>
              </a:ext>
            </a:extLst>
          </p:cNvPr>
          <p:cNvSpPr>
            <a:spLocks noGrp="1"/>
          </p:cNvSpPr>
          <p:nvPr>
            <p:ph idx="1"/>
          </p:nvPr>
        </p:nvSpPr>
        <p:spPr>
          <a:xfrm>
            <a:off x="838200" y="876300"/>
            <a:ext cx="10515600" cy="5616574"/>
          </a:xfrm>
        </p:spPr>
        <p:txBody>
          <a:bodyPr>
            <a:normAutofit/>
          </a:bodyPr>
          <a:lstStyle/>
          <a:p>
            <a:pPr>
              <a:lnSpc>
                <a:spcPct val="100000"/>
              </a:lnSpc>
            </a:pPr>
            <a:r>
              <a:rPr lang="en-US" b="1" dirty="0"/>
              <a:t>Key Metrics:</a:t>
            </a:r>
            <a:r>
              <a:rPr lang="en-US" dirty="0"/>
              <a:t> Precision, Recall, F1-score</a:t>
            </a:r>
          </a:p>
          <a:p>
            <a:pPr>
              <a:lnSpc>
                <a:spcPct val="100000"/>
              </a:lnSpc>
            </a:pPr>
            <a:r>
              <a:rPr lang="en-US" b="1" dirty="0"/>
              <a:t>Performance (Both Models):</a:t>
            </a:r>
            <a:endParaRPr lang="en-US" dirty="0"/>
          </a:p>
          <a:p>
            <a:r>
              <a:rPr lang="en-US" b="1" dirty="0"/>
              <a:t>Decision Tree Model</a:t>
            </a:r>
            <a:endParaRPr lang="en-US" dirty="0"/>
          </a:p>
          <a:p>
            <a:pPr marL="0" indent="0">
              <a:buNone/>
            </a:pPr>
            <a:r>
              <a:rPr lang="en-US" dirty="0"/>
              <a:t>  - Recall: </a:t>
            </a:r>
            <a:r>
              <a:rPr lang="en-US" b="1" dirty="0"/>
              <a:t>**65.90%**</a:t>
            </a:r>
            <a:r>
              <a:rPr lang="en-US" dirty="0"/>
              <a:t>  </a:t>
            </a:r>
          </a:p>
          <a:p>
            <a:pPr marL="0" indent="0">
              <a:buNone/>
            </a:pPr>
            <a:r>
              <a:rPr lang="en-US" dirty="0"/>
              <a:t>  - F1 Score: </a:t>
            </a:r>
            <a:r>
              <a:rPr lang="en-US" b="1" dirty="0"/>
              <a:t>**68.76%**</a:t>
            </a:r>
            <a:r>
              <a:rPr lang="en-US" dirty="0"/>
              <a:t>  </a:t>
            </a:r>
          </a:p>
          <a:p>
            <a:pPr marL="0" indent="0">
              <a:buNone/>
            </a:pPr>
            <a:r>
              <a:rPr lang="en-US" dirty="0"/>
              <a:t>  - Accuracy: </a:t>
            </a:r>
            <a:r>
              <a:rPr lang="en-US" b="1" dirty="0"/>
              <a:t>**91%**</a:t>
            </a:r>
            <a:r>
              <a:rPr lang="en-US" dirty="0"/>
              <a:t> </a:t>
            </a:r>
          </a:p>
          <a:p>
            <a:r>
              <a:rPr lang="en-US" b="1" dirty="0"/>
              <a:t>Logistic Regression Model</a:t>
            </a:r>
            <a:endParaRPr lang="en-US" dirty="0"/>
          </a:p>
          <a:p>
            <a:pPr marL="0" indent="0">
              <a:buNone/>
            </a:pPr>
            <a:r>
              <a:rPr lang="en-US" dirty="0"/>
              <a:t>  - Recall: </a:t>
            </a:r>
            <a:r>
              <a:rPr lang="en-US" b="1" dirty="0"/>
              <a:t>**65.90%**</a:t>
            </a:r>
            <a:r>
              <a:rPr lang="en-US" dirty="0"/>
              <a:t>  </a:t>
            </a:r>
          </a:p>
          <a:p>
            <a:pPr marL="0" indent="0">
              <a:buNone/>
            </a:pPr>
            <a:r>
              <a:rPr lang="en-US" dirty="0"/>
              <a:t>  - Accuracy: </a:t>
            </a:r>
            <a:r>
              <a:rPr lang="en-US" b="1" dirty="0"/>
              <a:t>**86%**</a:t>
            </a:r>
            <a:r>
              <a:rPr lang="en-US" dirty="0"/>
              <a:t>  </a:t>
            </a:r>
          </a:p>
          <a:p>
            <a:pPr marL="0" indent="0">
              <a:buNone/>
            </a:pPr>
            <a:r>
              <a:rPr lang="en-US" dirty="0"/>
              <a:t>  - AUC: Similar to Decision Tree (~0.807)</a:t>
            </a:r>
          </a:p>
          <a:p>
            <a:endParaRPr lang="en-US" dirty="0"/>
          </a:p>
          <a:p>
            <a:pPr>
              <a:lnSpc>
                <a:spcPct val="150000"/>
              </a:lnSpc>
            </a:pPr>
            <a:endParaRPr lang="en-US" b="1" dirty="0"/>
          </a:p>
          <a:p>
            <a:pPr>
              <a:lnSpc>
                <a:spcPct val="150000"/>
              </a:lnSpc>
            </a:pPr>
            <a:endParaRPr lang="en-US" dirty="0"/>
          </a:p>
          <a:p>
            <a:endParaRPr lang="en-US" dirty="0"/>
          </a:p>
        </p:txBody>
      </p:sp>
    </p:spTree>
    <p:extLst>
      <p:ext uri="{BB962C8B-B14F-4D97-AF65-F5344CB8AC3E}">
        <p14:creationId xmlns:p14="http://schemas.microsoft.com/office/powerpoint/2010/main" val="4107300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B10C7-AB4E-C9A7-775E-707E99BF9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9CFF3-3978-FF33-7122-29DD66CCF4E5}"/>
              </a:ext>
            </a:extLst>
          </p:cNvPr>
          <p:cNvSpPr>
            <a:spLocks noGrp="1"/>
          </p:cNvSpPr>
          <p:nvPr>
            <p:ph type="title"/>
          </p:nvPr>
        </p:nvSpPr>
        <p:spPr>
          <a:xfrm>
            <a:off x="838200" y="365126"/>
            <a:ext cx="10515600" cy="615950"/>
          </a:xfrm>
        </p:spPr>
        <p:txBody>
          <a:bodyPr>
            <a:normAutofit fontScale="90000"/>
          </a:bodyPr>
          <a:lstStyle/>
          <a:p>
            <a:pPr algn="ctr"/>
            <a:r>
              <a:rPr lang="en-US" b="1" dirty="0"/>
              <a:t>Interpretation of Results</a:t>
            </a:r>
          </a:p>
        </p:txBody>
      </p:sp>
      <p:sp>
        <p:nvSpPr>
          <p:cNvPr id="3" name="Content Placeholder 2">
            <a:extLst>
              <a:ext uri="{FF2B5EF4-FFF2-40B4-BE49-F238E27FC236}">
                <a16:creationId xmlns:a16="http://schemas.microsoft.com/office/drawing/2014/main" id="{EC28B160-8906-F0A5-971F-38D11667DC5A}"/>
              </a:ext>
            </a:extLst>
          </p:cNvPr>
          <p:cNvSpPr>
            <a:spLocks noGrp="1"/>
          </p:cNvSpPr>
          <p:nvPr>
            <p:ph idx="1"/>
          </p:nvPr>
        </p:nvSpPr>
        <p:spPr>
          <a:xfrm>
            <a:off x="838200" y="1190625"/>
            <a:ext cx="10515600" cy="4986338"/>
          </a:xfrm>
        </p:spPr>
        <p:txBody>
          <a:bodyPr>
            <a:normAutofit fontScale="92500" lnSpcReduction="10000"/>
          </a:bodyPr>
          <a:lstStyle/>
          <a:p>
            <a:pPr>
              <a:lnSpc>
                <a:spcPct val="150000"/>
              </a:lnSpc>
            </a:pPr>
            <a:r>
              <a:rPr lang="en-US" b="1" dirty="0"/>
              <a:t>Decision Tree shows higher accuracy and F1 Score → better overall balance of precision and recall.</a:t>
            </a:r>
          </a:p>
          <a:p>
            <a:pPr>
              <a:lnSpc>
                <a:spcPct val="150000"/>
              </a:lnSpc>
            </a:pPr>
            <a:r>
              <a:rPr lang="en-US" b="1" dirty="0"/>
              <a:t>Recall is the same for both models, indicating equal ability to identify positives.</a:t>
            </a:r>
          </a:p>
          <a:p>
            <a:pPr>
              <a:lnSpc>
                <a:spcPct val="150000"/>
              </a:lnSpc>
            </a:pPr>
            <a:r>
              <a:rPr lang="en-US" b="1" dirty="0"/>
              <a:t>Logistic Regression has comparable AUC → similar ranking capability despite lower accuracy.</a:t>
            </a:r>
          </a:p>
          <a:p>
            <a:pPr>
              <a:lnSpc>
                <a:spcPct val="150000"/>
              </a:lnSpc>
            </a:pPr>
            <a:r>
              <a:rPr lang="en-US" b="1" dirty="0"/>
              <a:t>Business Impact:</a:t>
            </a:r>
            <a:r>
              <a:rPr lang="en-US" dirty="0"/>
              <a:t> Enables proactive outreach to majority of churners while keeping false alarms manageable</a:t>
            </a:r>
          </a:p>
        </p:txBody>
      </p:sp>
    </p:spTree>
    <p:extLst>
      <p:ext uri="{BB962C8B-B14F-4D97-AF65-F5344CB8AC3E}">
        <p14:creationId xmlns:p14="http://schemas.microsoft.com/office/powerpoint/2010/main" val="3263365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DE7A5-CD1A-BBA3-DF1B-16041C93F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E6C6F-6EBB-317B-B43B-4A372312E1A0}"/>
              </a:ext>
            </a:extLst>
          </p:cNvPr>
          <p:cNvSpPr>
            <a:spLocks noGrp="1"/>
          </p:cNvSpPr>
          <p:nvPr>
            <p:ph type="title"/>
          </p:nvPr>
        </p:nvSpPr>
        <p:spPr>
          <a:xfrm>
            <a:off x="838200" y="365126"/>
            <a:ext cx="10515600" cy="615950"/>
          </a:xfrm>
        </p:spPr>
        <p:txBody>
          <a:bodyPr>
            <a:normAutofit fontScale="90000"/>
          </a:bodyPr>
          <a:lstStyle/>
          <a:p>
            <a:pPr algn="ctr"/>
            <a:r>
              <a:rPr lang="en-US" b="1" dirty="0"/>
              <a:t>Conclusion</a:t>
            </a:r>
          </a:p>
        </p:txBody>
      </p:sp>
      <p:sp>
        <p:nvSpPr>
          <p:cNvPr id="3" name="Content Placeholder 2">
            <a:extLst>
              <a:ext uri="{FF2B5EF4-FFF2-40B4-BE49-F238E27FC236}">
                <a16:creationId xmlns:a16="http://schemas.microsoft.com/office/drawing/2014/main" id="{5005A73C-FAFB-A903-C0A1-012616B2EB92}"/>
              </a:ext>
            </a:extLst>
          </p:cNvPr>
          <p:cNvSpPr>
            <a:spLocks noGrp="1"/>
          </p:cNvSpPr>
          <p:nvPr>
            <p:ph idx="1"/>
          </p:nvPr>
        </p:nvSpPr>
        <p:spPr>
          <a:xfrm>
            <a:off x="838200" y="1190625"/>
            <a:ext cx="10515600" cy="4986338"/>
          </a:xfrm>
        </p:spPr>
        <p:txBody>
          <a:bodyPr>
            <a:normAutofit/>
          </a:bodyPr>
          <a:lstStyle/>
          <a:p>
            <a:pPr>
              <a:lnSpc>
                <a:spcPct val="150000"/>
              </a:lnSpc>
            </a:pPr>
            <a:r>
              <a:rPr lang="en-US" b="1" dirty="0"/>
              <a:t>Rationale</a:t>
            </a:r>
          </a:p>
          <a:p>
            <a:pPr marL="0" indent="0">
              <a:lnSpc>
                <a:spcPct val="150000"/>
              </a:lnSpc>
              <a:buNone/>
            </a:pPr>
            <a:r>
              <a:rPr lang="en-US" dirty="0"/>
              <a:t>- Both models outperform baseline</a:t>
            </a:r>
          </a:p>
          <a:p>
            <a:pPr marL="0" indent="0">
              <a:lnSpc>
                <a:spcPct val="150000"/>
              </a:lnSpc>
              <a:buNone/>
            </a:pPr>
            <a:r>
              <a:rPr lang="en-US" dirty="0"/>
              <a:t>- Recall ensures ~2/3 of churners are identified</a:t>
            </a:r>
          </a:p>
          <a:p>
            <a:pPr>
              <a:lnSpc>
                <a:spcPct val="150000"/>
              </a:lnSpc>
            </a:pPr>
            <a:r>
              <a:rPr lang="en-US" b="1" dirty="0"/>
              <a:t>Results</a:t>
            </a:r>
          </a:p>
          <a:p>
            <a:pPr marL="0" indent="0">
              <a:lnSpc>
                <a:spcPct val="150000"/>
              </a:lnSpc>
              <a:buNone/>
            </a:pPr>
            <a:r>
              <a:rPr lang="en-US" dirty="0"/>
              <a:t>- Logistic Regression: Clear mathematical feature influence</a:t>
            </a:r>
          </a:p>
          <a:p>
            <a:pPr marL="0" indent="0">
              <a:lnSpc>
                <a:spcPct val="150000"/>
              </a:lnSpc>
              <a:buNone/>
            </a:pPr>
            <a:r>
              <a:rPr lang="en-US" dirty="0"/>
              <a:t>- Decision Tree: Easier to explain with rule-based logic</a:t>
            </a:r>
          </a:p>
        </p:txBody>
      </p:sp>
    </p:spTree>
    <p:extLst>
      <p:ext uri="{BB962C8B-B14F-4D97-AF65-F5344CB8AC3E}">
        <p14:creationId xmlns:p14="http://schemas.microsoft.com/office/powerpoint/2010/main" val="2386505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42EC2-C0B1-EB43-D987-D95D49AD9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DADDB-F4D5-75E6-EFC9-AD02D0CF6E5D}"/>
              </a:ext>
            </a:extLst>
          </p:cNvPr>
          <p:cNvSpPr>
            <a:spLocks noGrp="1"/>
          </p:cNvSpPr>
          <p:nvPr>
            <p:ph type="title"/>
          </p:nvPr>
        </p:nvSpPr>
        <p:spPr>
          <a:xfrm>
            <a:off x="838200" y="365126"/>
            <a:ext cx="10515600" cy="615950"/>
          </a:xfrm>
        </p:spPr>
        <p:txBody>
          <a:bodyPr>
            <a:normAutofit fontScale="90000"/>
          </a:bodyPr>
          <a:lstStyle/>
          <a:p>
            <a:pPr algn="ctr"/>
            <a:r>
              <a:rPr lang="en-US" b="1" dirty="0"/>
              <a:t>Limitations</a:t>
            </a:r>
          </a:p>
        </p:txBody>
      </p:sp>
      <p:sp>
        <p:nvSpPr>
          <p:cNvPr id="3" name="Content Placeholder 2">
            <a:extLst>
              <a:ext uri="{FF2B5EF4-FFF2-40B4-BE49-F238E27FC236}">
                <a16:creationId xmlns:a16="http://schemas.microsoft.com/office/drawing/2014/main" id="{D63F7382-7EE0-7C9C-CD2F-B924EB0CD4D4}"/>
              </a:ext>
            </a:extLst>
          </p:cNvPr>
          <p:cNvSpPr>
            <a:spLocks noGrp="1"/>
          </p:cNvSpPr>
          <p:nvPr>
            <p:ph idx="1"/>
          </p:nvPr>
        </p:nvSpPr>
        <p:spPr>
          <a:xfrm>
            <a:off x="838200" y="1190625"/>
            <a:ext cx="10515600" cy="4986338"/>
          </a:xfrm>
        </p:spPr>
        <p:txBody>
          <a:bodyPr>
            <a:normAutofit/>
          </a:bodyPr>
          <a:lstStyle/>
          <a:p>
            <a:pPr marL="0" indent="0">
              <a:lnSpc>
                <a:spcPct val="150000"/>
              </a:lnSpc>
              <a:buNone/>
            </a:pPr>
            <a:r>
              <a:rPr lang="en-US" dirty="0"/>
              <a:t>- Class imbalance still affects minority class detection</a:t>
            </a:r>
          </a:p>
          <a:p>
            <a:pPr marL="0" indent="0">
              <a:lnSpc>
                <a:spcPct val="150000"/>
              </a:lnSpc>
              <a:buNone/>
            </a:pPr>
            <a:r>
              <a:rPr lang="en-US" dirty="0"/>
              <a:t>- Standard threshold may limit recall</a:t>
            </a:r>
          </a:p>
          <a:p>
            <a:pPr marL="0" indent="0">
              <a:lnSpc>
                <a:spcPct val="150000"/>
              </a:lnSpc>
              <a:buNone/>
            </a:pPr>
            <a:r>
              <a:rPr lang="en-US" dirty="0"/>
              <a:t>- Models miss ~1/3 of churners</a:t>
            </a:r>
          </a:p>
        </p:txBody>
      </p:sp>
    </p:spTree>
    <p:extLst>
      <p:ext uri="{BB962C8B-B14F-4D97-AF65-F5344CB8AC3E}">
        <p14:creationId xmlns:p14="http://schemas.microsoft.com/office/powerpoint/2010/main" val="3532789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26E22-95C9-9EE1-99E4-CA1A1A8D9C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B9EB6-A134-F41D-1657-AA192C9FCB29}"/>
              </a:ext>
            </a:extLst>
          </p:cNvPr>
          <p:cNvSpPr>
            <a:spLocks noGrp="1"/>
          </p:cNvSpPr>
          <p:nvPr>
            <p:ph type="title"/>
          </p:nvPr>
        </p:nvSpPr>
        <p:spPr>
          <a:xfrm>
            <a:off x="838200" y="365126"/>
            <a:ext cx="10515600" cy="615950"/>
          </a:xfrm>
        </p:spPr>
        <p:txBody>
          <a:bodyPr>
            <a:normAutofit fontScale="90000"/>
          </a:bodyPr>
          <a:lstStyle/>
          <a:p>
            <a:pPr algn="ctr"/>
            <a:r>
              <a:rPr lang="en-US" b="1" dirty="0"/>
              <a:t>Recommendations</a:t>
            </a:r>
          </a:p>
        </p:txBody>
      </p:sp>
      <p:sp>
        <p:nvSpPr>
          <p:cNvPr id="3" name="Content Placeholder 2">
            <a:extLst>
              <a:ext uri="{FF2B5EF4-FFF2-40B4-BE49-F238E27FC236}">
                <a16:creationId xmlns:a16="http://schemas.microsoft.com/office/drawing/2014/main" id="{6886A1A8-9B6C-1D76-D6DA-41EAC662CF37}"/>
              </a:ext>
            </a:extLst>
          </p:cNvPr>
          <p:cNvSpPr>
            <a:spLocks noGrp="1"/>
          </p:cNvSpPr>
          <p:nvPr>
            <p:ph idx="1"/>
          </p:nvPr>
        </p:nvSpPr>
        <p:spPr>
          <a:xfrm>
            <a:off x="838200" y="1190625"/>
            <a:ext cx="10515600" cy="4986338"/>
          </a:xfrm>
        </p:spPr>
        <p:txBody>
          <a:bodyPr>
            <a:normAutofit/>
          </a:bodyPr>
          <a:lstStyle/>
          <a:p>
            <a:pPr marL="0" indent="0">
              <a:lnSpc>
                <a:spcPct val="150000"/>
              </a:lnSpc>
              <a:buNone/>
            </a:pPr>
            <a:r>
              <a:rPr lang="en-US" dirty="0"/>
              <a:t>- Deploy Decision Tree Model for transparency and stakeholder communication</a:t>
            </a:r>
          </a:p>
          <a:p>
            <a:pPr marL="0" indent="0">
              <a:lnSpc>
                <a:spcPct val="150000"/>
              </a:lnSpc>
              <a:buNone/>
            </a:pPr>
            <a:r>
              <a:rPr lang="en-US" dirty="0"/>
              <a:t>- Focus retention on high-impact features (daytime usage, multiple service calls)</a:t>
            </a:r>
          </a:p>
          <a:p>
            <a:pPr marL="0" indent="0">
              <a:lnSpc>
                <a:spcPct val="150000"/>
              </a:lnSpc>
              <a:buNone/>
            </a:pPr>
            <a:r>
              <a:rPr lang="en-US" dirty="0"/>
              <a:t>- Integrate automated flagging into CRM dashboards</a:t>
            </a:r>
          </a:p>
          <a:p>
            <a:pPr marL="0" indent="0">
              <a:lnSpc>
                <a:spcPct val="150000"/>
              </a:lnSpc>
              <a:buNone/>
            </a:pPr>
            <a:r>
              <a:rPr lang="en-US" dirty="0"/>
              <a:t>- Explore ensemble methods (Random Forest) to improve recall further</a:t>
            </a:r>
          </a:p>
        </p:txBody>
      </p:sp>
    </p:spTree>
    <p:extLst>
      <p:ext uri="{BB962C8B-B14F-4D97-AF65-F5344CB8AC3E}">
        <p14:creationId xmlns:p14="http://schemas.microsoft.com/office/powerpoint/2010/main" val="369289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52</TotalTime>
  <Words>694</Words>
  <Application>Microsoft Office PowerPoint</Application>
  <PresentationFormat>Widescreen</PresentationFormat>
  <Paragraphs>146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Wingdings</vt:lpstr>
      <vt:lpstr>Office Theme</vt:lpstr>
      <vt:lpstr>MACHINE LEARNING PROJECT:   Churn Prediction Model</vt:lpstr>
      <vt:lpstr>PowerPoint Presentation</vt:lpstr>
      <vt:lpstr>PowerPoint Presentation</vt:lpstr>
      <vt:lpstr>PowerPoint Presentation</vt:lpstr>
      <vt:lpstr>Churners based on International plan distribution</vt:lpstr>
      <vt:lpstr>Churners Distribution</vt:lpstr>
      <vt:lpstr>Day vs Evening: Calls and Minutes Comparison"</vt:lpstr>
      <vt:lpstr>Minutes vs Charges Comparison</vt:lpstr>
      <vt:lpstr>Correlation Heatmap: Minutes vs Charges</vt:lpstr>
      <vt:lpstr>PowerPoint Presentation</vt:lpstr>
      <vt:lpstr>Evaluation Metrics</vt:lpstr>
      <vt:lpstr>Interpretation of Results</vt:lpstr>
      <vt:lpstr>Conclusion</vt:lpstr>
      <vt:lpstr>Limitations</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Geoffrey Kemboi</dc:creator>
  <cp:lastModifiedBy>Geoffrey Kemboi</cp:lastModifiedBy>
  <cp:revision>19</cp:revision>
  <dcterms:created xsi:type="dcterms:W3CDTF">2026-02-12T20:45:01Z</dcterms:created>
  <dcterms:modified xsi:type="dcterms:W3CDTF">2026-02-12T21:37:49Z</dcterms:modified>
</cp:coreProperties>
</file>